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2980B9"/>
              </a:solidFill>
              <a:effectLst/>
            </c:spPr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1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1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1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Neutral (59%)</c:v>
                </c:pt>
                <c:pt idx="1">
                  <c:v>Positive (33%)</c:v>
                </c:pt>
                <c:pt idx="2">
                  <c:v>Negative (6%)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5389</c:v>
                </c:pt>
                <c:pt idx="1">
                  <c:v>2978</c:v>
                </c:pt>
                <c:pt idx="2">
                  <c:v>570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4263672-851a-4a1f-89af-68b34c636b05}"/>
      </c:ext>
    </c:extLst>
  </c:chart>
  <c:spPr>
    <a:solidFill>
      <a:srgbClr val="F4F6FB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Naive Bayes</c:v>
                </c:pt>
                <c:pt idx="1">
                  <c:v>Logistic Regression</c:v>
                </c:pt>
                <c:pt idx="2">
                  <c:v>Linear SVC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0.6468</c:v>
                </c:pt>
                <c:pt idx="1">
                  <c:v>0.5401</c:v>
                </c:pt>
                <c:pt idx="2">
                  <c:v>0.5998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Weighted F1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Naive Bayes</c:v>
                </c:pt>
                <c:pt idx="1">
                  <c:v>Logistic Regression</c:v>
                </c:pt>
                <c:pt idx="2">
                  <c:v>Linear SVC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0.5983</c:v>
                </c:pt>
                <c:pt idx="1">
                  <c:v>0.5704</c:v>
                </c:pt>
                <c:pt idx="2">
                  <c:v>0.6078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444466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4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444466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6ff3c792-4cf6-46eb-a81b-401ff7e8eec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Tweet Sentiment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Classifying Customer Opinions on Apple and Google Products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109728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9B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 Project  |  Natural Language Processing  |  Angela Mukami, Tafford Pessah, Catherine Nanjala, Mophat Mwangi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828800" cy="1280160"/>
          </a:xfrm>
          <a:prstGeom prst="rect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6616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9,093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Tweets Analyzed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3474720"/>
            <a:ext cx="1828800" cy="1280160"/>
          </a:xfrm>
          <a:prstGeom prst="rect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356616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06040" y="4160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Classes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474720"/>
            <a:ext cx="1828800" cy="1280160"/>
          </a:xfrm>
          <a:prstGeom prst="rect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56616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4160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Compared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3474720"/>
            <a:ext cx="1828800" cy="1280160"/>
          </a:xfrm>
          <a:prstGeom prst="rect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356616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0.6078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20840" y="4160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Weighted F1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companies like Apple and Google receive thousands of tweets every day. Their social media and customer experience teams need a fast, reliable way to sort incoming tweets by sentiment - so they can act on what matters most.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40280"/>
            <a:ext cx="260604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317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Respond Fast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23317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and escalate negative tweets before they become a public issue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24028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240280"/>
            <a:ext cx="260604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3317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Positivity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743200"/>
            <a:ext cx="23317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positive sentiment trends around product launches and campaigns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24028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240280"/>
            <a:ext cx="260604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3317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 Noise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743200"/>
            <a:ext cx="23317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Automatically set aside neutral tweets that require no action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Solution: Build a model that automatically classifies any tweet as Positive, Negative, or Neutral based on its text content.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About the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7772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5156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9,093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140817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tweets rated by human judges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65960"/>
            <a:ext cx="73152" cy="7772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5,389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236829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neutral tweets (59%)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7180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2,978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" y="332841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positive tweets (33%)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86200"/>
            <a:ext cx="73152" cy="7772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3192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570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" y="428853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 tweets (6%)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663440" y="82296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challenge: Negative tweets are only 6% of the data. This imbalance directly shaped our modeling strategy.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We Prepared the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4572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0584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Removed noise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1005840"/>
            <a:ext cx="5394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Dropped 1 null tweet and 156 ambiguous "I can't tell" entries that could not be reliably learned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64792"/>
            <a:ext cx="4572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01952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181051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Cleaned the text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1810512"/>
            <a:ext cx="5394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Removed URLs, @mentions, punctuation and numbers. Converted all text to lowercase for consistency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569464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69464"/>
            <a:ext cx="4572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06624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615184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Removed stop words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2615184"/>
            <a:ext cx="5394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Filtered out common words like "the", "is", "and" that carry no sentiment signal and add noise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374136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74136"/>
            <a:ext cx="4572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11296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3419856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Converted text to numbers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08960" y="3419856"/>
            <a:ext cx="5394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TF-IDF to score each word by how important it is in a tweet vs across all tweets. Included two-word phrases to capture context like "line ipad" or "app store"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178808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78808"/>
            <a:ext cx="4572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15968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422452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Balanced the classes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108960" y="4224528"/>
            <a:ext cx="5394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class weighting in models so the rare negative class (6%) receives more attention during training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Three Models We Tested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tested three different approaches, each building on the last. All models read the cleaned, TF-IDF weighted tweet text.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651760" cy="6400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Naive Bayes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4688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simple probability-based model. Fast and easy to interpret but treats each word independently and cannot compensate for class imbalance.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456432"/>
            <a:ext cx="2468880" cy="54864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4787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Accuracy: 0.6468  |  Weighted F1: 0.5983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accuracy but nearly ignored negative tweets entirely - only 3 out of 171 correctly identified.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65176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4813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1783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2240280"/>
            <a:ext cx="24688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stronger linear model that can apply higher penalties for misclassifying rare classes. Used class weighting to give more attention to negative tweets.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3456432"/>
            <a:ext cx="2468880" cy="54864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54787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Accuracy: 0.5401  |  Weighted F1: 0.5704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3886200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negative class recall (93 correct) but sacrificed too much neutral performance.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41732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417320"/>
            <a:ext cx="265176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48132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Winner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17830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SVC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26480" y="2240280"/>
            <a:ext cx="24688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support vector classifier well suited to high-dimensional text data. Finds the best boundary between classes. Used class weighting throughout.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456432"/>
            <a:ext cx="2468880" cy="54864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54787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Accuracy: 0.5998  |  Weighted F1: 0.6078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3886200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overall balance across all three classes. Selected as the final model.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Results 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use Weighted F1 as our primary metric - it accounts for class imbalance and penalises models that ignore minority classes.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2588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325880"/>
            <a:ext cx="283464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4630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80760" y="1965960"/>
            <a:ext cx="54864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1938528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SVC wins on Weighted F1 (0.6078) - our most important metric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2587752"/>
            <a:ext cx="54864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256032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Naive Bayes had the highest accuracy but nearly missed all negative tweets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80760" y="3209544"/>
            <a:ext cx="54864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3182112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 accuracy can mean better fairness across classes - not worse performance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80760" y="3831336"/>
            <a:ext cx="54864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3803904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Weighted F1 tells the full story when classes are unequal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Words Drive Each Sentiment?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examined which words most strongly predict each sentiment class. This helps validate that the model is learning real signals, not noise.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 Tweets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3852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1284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battery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8716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 ipad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74320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6148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 store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3580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29184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1012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think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56616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8444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iphone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84048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5876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187952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Words signal frustration with product performance, wait times, and app access issues.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137160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1371600"/>
            <a:ext cx="2651760" cy="4114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14173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Neutral Tweets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337560" y="192024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193852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37560" y="219456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221284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37560" y="246888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248716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37560" y="274320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276148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37560" y="301752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303580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music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37560" y="329184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331012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37560" y="356616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358444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37560" y="384048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385876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91840" y="4187952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Purely informational words. Tweets sharing news or product details with no emotion.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35040" y="1371600"/>
            <a:ext cx="26517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035040" y="1371600"/>
            <a:ext cx="265176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1417320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Positive Tweets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172200" y="192024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193852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cool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72200" y="219456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221284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great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72200" y="246888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248716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awesome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172200" y="274320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276148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72200" y="301752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0" y="303580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172200" y="329184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0" y="331012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wow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172200" y="356616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17920" y="358444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172200" y="3840480"/>
            <a:ext cx="2377440" cy="228600"/>
          </a:xfrm>
          <a:prstGeom prst="rect">
            <a:avLst/>
          </a:prstGeom>
          <a:solidFill>
            <a:srgbClr val="F0F4FA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17920" y="385876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126480" y="4187952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enthusiasm markers. Conference energy from SXSW also visible in this class.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 to Be Aware Of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Very few negative examples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90472"/>
            <a:ext cx="7772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6% of tweets are negative. Even with class weighting, the model has limited data to learn from for this critical class. More labeled negative examples would directly improve performance.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73152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231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Tweets are short and noisy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770632"/>
            <a:ext cx="7772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Tweets use slang, abbreviations, and informal language that standard cleaning does not fully handle. Some preprocessing artifacts such as merged words appeared in the top features.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11880"/>
            <a:ext cx="73152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033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and sarcasm are missed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050792"/>
            <a:ext cx="77724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reads tweets as a bag of words. It cannot detect sarcasm, irony, or context-dependent meaning. A tweet like 'great, another crash' would likely be misclassified as positive.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4572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0332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the model for first-pass triage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033272"/>
            <a:ext cx="4663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a Weighted F1 of 0.6078, the Linear SVC model provides a meaningful filter on incoming tweets. It will significantly reduce the volume requiring manual review, even if not perfect.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4572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0312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199339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more negative tweet examples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1993392"/>
            <a:ext cx="4663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Negative tweets are the most business-critical class and the most underrepresented. Targeted labeling of negative tweets would have the highest return on investment for model improvement.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0360"/>
            <a:ext cx="4572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6324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295351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Retrain the model periodically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2953512"/>
            <a:ext cx="4663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language evolves with product cycles and current events. The model should be updated with fresh labeled data at regular intervals to remain accurate and relevant.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40480"/>
            <a:ext cx="4572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23360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51560" y="39136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Consider a two-stage approach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3913632"/>
            <a:ext cx="46634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practical first deployment could classify tweets as 'needs attention' (negative) vs 'does not need attention' (positive or neutral). This binary split is simpler and more reliable with the current data.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" cy="365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Analyzed 9,093 tweets about Apple and Google products to classify sentiment as positive, negative, or neutral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54864" cy="365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and compared three models: Naive Bayes, Logistic Regression, and Linear SVC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96896"/>
            <a:ext cx="54864" cy="365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78608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SVC selected as the final model with the best Weighted F1 score of 0.6078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54864" cy="365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36976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explainability confirmed the classifier is learning real sentiment signals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13632"/>
            <a:ext cx="54864" cy="3657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95344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next step: collect more negative tweet examples to improve the most critical class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2050"/>
          </a:solidFill>
          <a:ln w="12700">
            <a:solidFill>
              <a:srgbClr val="152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7A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 Project  |  Natural Language Processing  |  Tweet Sentiment 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5944</Words>
  <Application>WPS Presentation</Application>
  <PresentationFormat>On-screen Show (16:9)</PresentationFormat>
  <Paragraphs>258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Tweet Sentiment Analysis - Apple and Google Products</dc:title>
  <dc:creator>PptxGenJS</dc:creator>
  <dc:subject>PptxGenJS Presentation</dc:subject>
  <cp:lastModifiedBy>admin</cp:lastModifiedBy>
  <cp:revision>2</cp:revision>
  <dcterms:created xsi:type="dcterms:W3CDTF">2026-03-23T20:24:00Z</dcterms:created>
  <dcterms:modified xsi:type="dcterms:W3CDTF">2026-03-24T18:14:46Z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6F13A8F403F147859136288BC8D5D4F4_12</vt:lpwstr>
  </property>
  <property fmtid="{D5CDD505-2E9C-101B-9397-08002B2CF9AE}" pid="3" name="KSOProductBuildVer">
    <vt:lpwstr>1033-12.2.0.23196</vt:lpwstr>
  </property>
</Properties>
</file>